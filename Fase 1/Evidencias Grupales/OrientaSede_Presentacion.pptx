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C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C1E36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2331720"/>
            <a:ext cx="2926080" cy="2926080"/>
          </a:xfrm>
          <a:prstGeom prst="ellipse">
            <a:avLst/>
          </a:prstGeom>
          <a:ln w="19050">
            <a:solidFill>
              <a:srgbClr val="2F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2971800"/>
            <a:ext cx="1645920" cy="1645920"/>
          </a:xfrm>
          <a:prstGeom prst="ellipse">
            <a:avLst/>
          </a:prstGeom>
          <a:ln w="19050">
            <a:solidFill>
              <a:srgbClr val="2FD3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3611880"/>
            <a:ext cx="365760" cy="3657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7" name="Shape 5"/>
          <p:cNvSpPr/>
          <p:nvPr/>
        </p:nvSpPr>
        <p:spPr>
          <a:xfrm>
            <a:off x="9006840" y="196596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109960" y="4160520"/>
            <a:ext cx="164592" cy="16459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448056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INGENIERÍA EN INFORMÁTICA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7830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OrientaSede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Tótem Interactivo de Orientación Estudiantil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291840" cy="0"/>
          </a:xfrm>
          <a:prstGeom prst="line">
            <a:avLst/>
          </a:prstGeom>
          <a:noFill/>
          <a:ln w="25400">
            <a:solidFill>
              <a:srgbClr val="2FD3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sistema, definición de proyecto y plan de trabajo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Sede Puente Alto  |  Reunión de definición técnica con profesor guía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motiva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30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dispersa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Horarios, salas, finanzas y TNE están repartidos entre portales, correos y mesones distintos.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30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Desplazamientos innecesarios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estudiantes, sobre todo de primer año, recorren la sede para resolver trámites de baja complejidad.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148840"/>
            <a:ext cx="640080" cy="64008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305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Saturación de atención presencial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566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 repetidas sobrecargan al personal administrativo y generan filas evitables.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2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proyecto: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único de autoatención que reduce filas, agiliza la orientación dentro del edificio y da autonomía al estudiante.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y objetivo general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OrientaSede?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688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autoatención y orientación estudiantil, disponible como aplicación de escritorio (para instalar en un tótem físico) y como versión web con la misma lógica de negocio.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575304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447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 y derivación de trámites (horarios, finanzas, TNE)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142232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0142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horario personal del alumno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4709160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5811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ubicación de salas — mapa interno interactivo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086600" y="1783080"/>
            <a:ext cx="4526280" cy="4297680"/>
          </a:xfrm>
          <a:prstGeom prst="roundRect">
            <a:avLst>
              <a:gd name="adj" fmla="val 2128"/>
            </a:avLst>
          </a:prstGeom>
          <a:solidFill>
            <a:srgbClr val="132B4C"/>
          </a:solidFill>
          <a:ln/>
        </p:spPr>
      </p:sp>
      <p:sp>
        <p:nvSpPr>
          <p:cNvPr id="14" name="Shape 12"/>
          <p:cNvSpPr/>
          <p:nvPr/>
        </p:nvSpPr>
        <p:spPr>
          <a:xfrm>
            <a:off x="7406640" y="2103120"/>
            <a:ext cx="640080" cy="64008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3337560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de autoatención y orientación estudiantil, en versión de escritorio y web, que permita a los estudiantes de la sede resolver de forma autónoma consultas frecuentes mediante información centralizada y una guía de navegación interna.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sistema: tres componentes coordinados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574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web (tótem)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 en modo kiosco sobre Dell OptiPlex 3000 Micro. Consulta pública + acciones puntuales.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057400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0574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 escritorio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 para personal Duoc UC: salas, coordinadores, FAQ y enrolamiento.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057400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0574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relacional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7889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único para ambas aplicaciones — evita duplicar la lógica de negocio.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32B4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5262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97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mínimas exigidas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80360" y="4526280"/>
            <a:ext cx="0" cy="1463040"/>
          </a:xfrm>
          <a:prstGeom prst="line">
            <a:avLst/>
          </a:prstGeom>
          <a:noFill/>
          <a:ln w="12700">
            <a:solidFill>
              <a:srgbClr val="5B72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0" y="4343400"/>
            <a:ext cx="8138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dos deben ser de desarrollo propio, complementadas con servicios públicos externos. El proyecto propone tres APIs propias y dos externas — por sobre el mínimo exigido.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general: cuatro capas coordinadas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132B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 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JS, Three.js (kiosco)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89320" y="178308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132B4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0" y="17830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escritorio  ·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(panel admin)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10800000">
            <a:off x="5995264" y="2587752"/>
            <a:ext cx="201168" cy="164592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5292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8529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único  ·  </a:t>
            </a:r>
            <a:pPr indent="0" marL="0">
              <a:buNone/>
            </a:pPr>
            <a:r>
              <a:rPr lang="en-US" sz="13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NestJS + TypeScript · centraliza la lógica de negocio y las 5 APIs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 rot="10800000">
            <a:off x="5995264" y="3657600"/>
            <a:ext cx="201168" cy="164592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92277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32B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9227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 ·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— consultas parametrizadas, previene inyección SQL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5995264" y="4727448"/>
            <a:ext cx="201168" cy="164592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9926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9926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 ·  </a:t>
            </a:r>
            <a:pPr indent="0" marL="0">
              <a:buNone/>
            </a:pPr>
            <a:r>
              <a:rPr lang="en-US" sz="13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30 tablas normalizadas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 y decisión de diseño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Three.js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8892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3D interactivo — prototipo ya validado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08483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8892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HTML/CSS/JS del tótem en la app de escritorio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08483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2066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NestJS + 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8892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lenguaje en todo el proyecto; tipado estático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32511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25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ORM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02920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— previene inyección SQL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432511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325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02920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relacional robusto y gratuito, 30 tablas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EA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325112"/>
            <a:ext cx="548640" cy="54864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4325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502920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PostgreSQL contenerizados, despliegue reproducible</a:t>
            </a:r>
            <a:endParaRPr lang="en-US" sz="113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evaluada y descartada: Java + Spring Boot — mayor seguridad de fábrica, pero curva de aprendizaje y desarrollo más lentos para el plazo del proyecto.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APIs del sistema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6309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Enrolamiento y Trámites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Autenticación, validación fotográfica y registro de solicitudes de enrolamiento.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 y Salas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 y equipamiento de cada sala (datos institucionales reales).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Preguntas Frecuentes (FAQ)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Contenidos de autogestión, administrables desde la app de escritorio.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Graph (Entra ID)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identidad del alumno sin contraseña.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Vision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i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facial de la fotografía de enrolamiento.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32B4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APIs propias y 2 externas — supera el mínimo de 2 propias exigido por la asignatura.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sin contraseña vía Microsoft Entra 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 institucional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ingresa solo su correo Duoc UC en el tótem.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 rot="5400000">
            <a:off x="3172968" y="2743200"/>
            <a:ext cx="182880" cy="274320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3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Notificación push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63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+ Microsoft Graph disparan una notificación a Microsoft Authenticator.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07608" y="2743200"/>
            <a:ext cx="182880" cy="274320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EAF3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Confirmación táctil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63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confirma con un toque, sin escribir clave alguna.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42248" y="2743200"/>
            <a:ext cx="182880" cy="274320"/>
          </a:xfrm>
          <a:prstGeom prst="triangle">
            <a:avLst/>
          </a:prstGeom>
          <a:solidFill>
            <a:srgbClr val="5B7290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7830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2FD3C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606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≈10 segundos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063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verificado sin que el tótem maneje contraseñas.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proporcional al riesgo: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709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Mapa, coordinadores, FAQ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47091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autenticación — información pública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303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 personal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53035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rápida vía código de barras (Vivo Duoc)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897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fotográfico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297680" y="58978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fuerte — Entra ID passwordless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CRÍTICO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Enrolamiento fotográfico: el backend como intermediario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clickvisitas.duoc.cl no tiene API pública. El único acceso disponible es una cuenta administradora con visibilidad sobre todos los usuarios — exponerla en el tótem es un riesgo inaceptable.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062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administrativas permanecen solo en el servidor. La acción se restringe a cargar una foto por solicitud, ejecutada mediante automatización de navegador (Playwright).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32B4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10312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834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previa con Google Vision AI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3575304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34472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de un único rostro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078224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iluminación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4581144"/>
            <a:ext cx="109728" cy="10972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0" y="44531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adecuado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166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gastar intentos contra el sistema institucional con fotos inválidas y da retroalimentación inmediata al alumno.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confirmado y despliegue con Docker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Dell OptiPlex 3000 Micro</a:t>
            </a:r>
            <a:endParaRPr lang="en-US" sz="15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34924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i5, 12ª gen.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 (15,7 GB usables)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 NVMe PCIe Gen4, 1 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Conectividad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6E + Bluetooth + Ethernet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Periféricos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B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táctil + cámara 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7373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Contenerización (docker-compose)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263640" y="228600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132B4C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2606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FD3C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98280" y="2606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FD3C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098280" y="2606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794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orquesta ambos servicios y las variables de entorno. README.md documenta cómo levantar el sistema completo con un solo comando: docker-compose up.</a:t>
            </a:r>
            <a:endParaRPr lang="en-US" sz="118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SISTEMA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no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1312164" y="2148840"/>
            <a:ext cx="594360" cy="59436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216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383280"/>
            <a:ext cx="1792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contraseñas de alumnos; Prisma previene inyección SQL; passwords admin cifradas con bcrypt.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83464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32B4C"/>
          </a:solidFill>
          <a:ln/>
        </p:spPr>
      </p:sp>
      <p:sp>
        <p:nvSpPr>
          <p:cNvPr id="10" name="Shape 8"/>
          <p:cNvSpPr/>
          <p:nvPr/>
        </p:nvSpPr>
        <p:spPr>
          <a:xfrm>
            <a:off x="3598164" y="214884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816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880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383280"/>
            <a:ext cx="1792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volumen concurrente por tótem; mapa 3D validado con geometría low-poly.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5884164" y="2148840"/>
            <a:ext cx="594360" cy="59436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8416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80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85232" y="3383280"/>
            <a:ext cx="1792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centralizado — múltiples tótems en distintas sedes sin duplicar lógica.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40664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132B4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70164" y="214884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7016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880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3383280"/>
            <a:ext cx="1792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errores; fallos externos no bloquean funciones no dependientes.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69264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EA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56164" y="2148840"/>
            <a:ext cx="594360" cy="594360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5616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2880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Portabilidad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3383280"/>
            <a:ext cx="1792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Docker garantiza despliegue sin configuración manual del host.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TRABAJO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Scrumban y roles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Scrumban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Scrum y Kanban, con correspondencia directa a los artefactos exigidos por la asignatura:</a:t>
            </a:r>
            <a:endParaRPr lang="en-US" sz="118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108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/ Backlog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del sistema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566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4023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 / Kanban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80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4480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 + Docker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equipo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37960" y="2514600"/>
            <a:ext cx="384048" cy="38404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y backend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el equipo; modela la base de datos y la lógica de negocio.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537960" y="3447288"/>
            <a:ext cx="384048" cy="38404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401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y versión web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767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la interfaz (mockups) e implementa las versiones web y de escritorio.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537960" y="4379976"/>
            <a:ext cx="384048" cy="384048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3796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3342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Horario/salas, pruebas y documentación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70001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horario y ubicación de salas; ejecuta pruebas y documentación final.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349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i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integrantes participan en el levantamiento de requisitos y en las pruebas.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trabajo — 8 semanas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1109960" cy="0"/>
          </a:xfrm>
          <a:prstGeom prst="line">
            <a:avLst/>
          </a:prstGeom>
          <a:noFill/>
          <a:ln w="19050">
            <a:solidFill>
              <a:srgbClr val="5B72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2FD3C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4048" y="12161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Sprint 0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84048" y="1527048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hardware y stack ya definidos; puesta en marcha del repo.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88336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1" name="Shape 9"/>
          <p:cNvSpPr/>
          <p:nvPr/>
        </p:nvSpPr>
        <p:spPr>
          <a:xfrm>
            <a:off x="2770632" y="27889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856232" y="30175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32B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65960" y="30906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S2–3 · Sprint 1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401568"/>
            <a:ext cx="1609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final de 30 tablas, esquema Prisma, endpoints de 3 APIs propias.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0328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6" name="Shape 14"/>
          <p:cNvSpPr/>
          <p:nvPr/>
        </p:nvSpPr>
        <p:spPr>
          <a:xfrm>
            <a:off x="4992624" y="25603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078224" y="11430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32B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87952" y="12161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S4–5 · Sprint 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187952" y="1527048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(Three.js) y app de escritorio (Electron).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21" name="Shape 19"/>
          <p:cNvSpPr/>
          <p:nvPr/>
        </p:nvSpPr>
        <p:spPr>
          <a:xfrm>
            <a:off x="7214616" y="27889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300216" y="30175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32B4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9944" y="30906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· Sprint 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3401568"/>
            <a:ext cx="1609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fotográfico: Entra ID, Google Vision, automatización.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54312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26" name="Shape 24"/>
          <p:cNvSpPr/>
          <p:nvPr/>
        </p:nvSpPr>
        <p:spPr>
          <a:xfrm>
            <a:off x="9436608" y="25603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522208" y="11430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132B4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31936" y="121615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· Sprint 4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31936" y="1527048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FAQ, contenerización Docker, pruebas de integración.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1576304" y="2706624"/>
            <a:ext cx="164592" cy="164592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58600" y="2788920"/>
            <a:ext cx="0" cy="228600"/>
          </a:xfrm>
          <a:prstGeom prst="line">
            <a:avLst/>
          </a:prstGeom>
          <a:noFill/>
          <a:ln w="9525">
            <a:solidFill>
              <a:srgbClr val="5B729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0058400" y="30175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32B4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168128" y="30906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· Sprint 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168128" y="3401568"/>
            <a:ext cx="1609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Pulido, pruebas de rendimiento/seguridad, UML, documentación final.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mapa interactivo, base de datos y enrolamiento funcionales primero — FAQ se cierra al final del calendario.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diferente a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C1E36"/>
          </a:solidFill>
          <a:ln w="9525">
            <a:solidFill>
              <a:srgbClr val="2FD3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Orientación espacial 3D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tridimensional, único en un punto de información tradicional.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C1E36"/>
          </a:solidFill>
          <a:ln w="9525">
            <a:solidFill>
              <a:srgbClr val="2FD3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4884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Autogestión real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fotográfico sin intervención de un funcionario.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0C1E36"/>
          </a:solidFill>
          <a:ln w="9525">
            <a:solidFill>
              <a:srgbClr val="2FD3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148840"/>
            <a:ext cx="594360" cy="594360"/>
          </a:xfrm>
          <a:prstGeom prst="ellipse">
            <a:avLst/>
          </a:prstGeom>
          <a:solidFill>
            <a:srgbClr val="2FD3C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institucional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74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sin contraseña vía Entra ID, sin sacrificar velocidad de uso.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FD3C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agregado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C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carga operativa de las oficinas de atención, disminuye los tiempos de espera del alumno, y sienta las bases de una arquitectura reutilizable y escalable a múltiples sedes.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VALIDAR HOY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pendientes de definición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21408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84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del stack tecnológico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TypeScript, NestJS, Prisma, PostgreSQL, Electron.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121408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84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 escritorio como módulo obligatorio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88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Incorporación formal del panel administrativo al alcance del proyecto.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Calendario de entregas por fase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de Fase 1, 2 y 3 conforme al calendario de la asignatura.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EA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087368"/>
            <a:ext cx="566928" cy="566928"/>
          </a:xfrm>
          <a:prstGeom prst="ellipse">
            <a:avLst/>
          </a:prstGeom>
          <a:solidFill>
            <a:srgbClr val="132B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 capacidad — horario del alumno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754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3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aprobación de jefatura; no requiere rediseño de base de datos.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· Tótem de Orientación Estudiantil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-731520"/>
            <a:ext cx="2926080" cy="2926080"/>
          </a:xfrm>
          <a:prstGeom prst="ellipse">
            <a:avLst/>
          </a:prstGeom>
          <a:ln w="19050">
            <a:solidFill>
              <a:srgbClr val="2FD3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572000"/>
            <a:ext cx="2926080" cy="2926080"/>
          </a:xfrm>
          <a:prstGeom prst="ellipse">
            <a:avLst/>
          </a:prstGeom>
          <a:ln w="12700">
            <a:solidFill>
              <a:srgbClr val="5B72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validación de la arquitectura propuesta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25400">
            <a:solidFill>
              <a:srgbClr val="2FD3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OrientaSede — Tótem de Orientación Estudiantil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 UC · Sede Puente Alto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2026-09-09T20:45:15Z</dcterms:created>
  <dcterms:modified xsi:type="dcterms:W3CDTF">2026-09-09T20:45:15Z</dcterms:modified>
</cp:coreProperties>
</file>